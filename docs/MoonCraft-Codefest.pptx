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Funnel Sans Bold"/>
      <p:bold r:id="rId14"/>
    </p:embeddedFont>
    <p:embeddedFont>
      <p:font typeface="Funnel Display SemiBold"/>
    </p:embeddedFont>
    <p:embeddedFont>
      <p:font typeface="Funnel Sans SemiBold"/>
    </p:embeddedFont>
    <p:embeddedFont>
      <p:font typeface="Funnel Display Medium"/>
    </p:embeddedFont>
    <p:embeddedFont>
      <p:font typeface="Funnel Sans"/>
      <p:regular r:id="rId15"/>
    </p:embeddedFont>
    <p:embeddedFont>
      <p:font typeface="+mn-lt"/>
    </p:embeddedFont>
    <p:embeddedFont>
      <p:font typeface="+mn-ea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Funnel_Sans_Bold_Bold.fntdata"/><Relationship Id="rId15" Type="http://schemas.openxmlformats.org/officeDocument/2006/relationships/font" Target="fonts/Font_2_Funnel_Sans_Regular.fntdata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0F0C182-E9FD-4D35-80BB-4178997060C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strong: ViewPilot is an AI interview coach built for early-career job seekers who need realistic, actionable practice before high-stakes interviews.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2521E3-18E7-49E2-9403-A958EDDF3E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 out the core barrier: human mock interviews are expensive, and generic question banks don't adapt to how a candidate actually answers.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1C51F0-0F2B-40E2-BA27-1E8ED5A69B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the four stages: prepare, answer, understand, improve. Reiterate that practice is useless without feedback that connects to specific evidence.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64B5FC-9A8F-4FA5-A094-76F5476316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Highlight simplicity: minimal friction to begin, adaptive conversational flow during the session, and immediate structured takeaways at completion.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E4C4BB-3140-4E1C-9979-6F1923DAE8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judges that the entire demo is self-contained and reproducible within three minutes on stage.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6197ED-2466-4779-99D2-FE890F7866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that ViewPilot never gives a bare number. Every score connects criteria directly to an actionable coaching tip.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F7F752-BB99-4B57-92EC-6F96432D3A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that candidates don't just see a rating: they see their exact words quoted back with a concrete rewrite template.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D29C0E-A4E8-4D86-B57D-3183146F3A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the judges through the pipeline: zero client-exposed keys, strict JSON schema validation, and stateless architecture.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9416E6-466F-4B4F-9697-13F449ADCD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Highlight engineering pragmatism: we locked the critical path first so judges see an entirely functioning demo, not a prototype full of bugs.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FFC6AA-DB4A-4FD0-B6C1-21E1CF23A6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by addressing AI ethics directly: we judge content against rubrics, never personal traits, and protect candidate privacy completely.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8B3B73-942D-45F4-9EEE-CC2A791F7F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2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2921040" y="3301920"/>
            <a:ext cx="6349320" cy="3200040"/>
          </a:xfrm>
          <a:prstGeom prst="roundRect">
            <a:avLst>
              <a:gd name="adj" fmla="val 2750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3073320" y="3815280"/>
            <a:ext cx="6044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pc="96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HACKATHON 2026 · PITCH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3378240" y="4205880"/>
            <a:ext cx="543528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82000"/>
              </a:lnSpc>
              <a:tabLst>
                <a:tab pos="0" algn="l"/>
              </a:tabLst>
            </a:pPr>
            <a:r>
              <a:rPr lang="en-US" sz="7800" b="0" u="none" spc="-196" strike="noStrike">
                <a:solidFill>
                  <a:srgbClr val="051D3A"/>
                </a:solidFill>
                <a:effectLst/>
                <a:uFillTx/>
                <a:latin typeface="Funnel Display Medium"/>
                <a:ea typeface="Funnel Display Medium"/>
              </a:rPr>
              <a:t>ViewPilot</a:t>
            </a:r>
            <a:endParaRPr lang="en-US" sz="7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3073320" y="5265360"/>
            <a:ext cx="604476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Your AI-powered interview coach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3073320" y="5792760"/>
            <a:ext cx="6044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3"/>
                </a:solidFill>
                <a:effectLst/>
                <a:uFillTx/>
                <a:latin typeface="Funnel Sans"/>
                <a:ea typeface="Funnel Sans"/>
              </a:rPr>
              <a:t>Turn realistic interview practice into structured growth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711360" y="945000"/>
            <a:ext cx="6603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pc="96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THE PROBLEM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711360" y="1250280"/>
            <a:ext cx="614628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600" b="0" u="none" spc="-37" strike="noStrike">
                <a:solidFill>
                  <a:srgbClr val="051D3A"/>
                </a:solidFill>
                <a:effectLst/>
                <a:uFillTx/>
                <a:latin typeface="Funnel Display Medium"/>
                <a:ea typeface="Funnel Display Medium"/>
              </a:rPr>
              <a:t>Interview practice is out of reach for most students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711360" y="2393280"/>
            <a:ext cx="6146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Early-career applicants rarely get realistic, role-specific practice before the interview that matters.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711360" y="3250080"/>
            <a:ext cx="6146280" cy="1259640"/>
          </a:xfrm>
          <a:prstGeom prst="roundRect">
            <a:avLst>
              <a:gd name="adj" fmla="val 6984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939600" y="3431880"/>
            <a:ext cx="56890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Generic question banks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39600" y="3748680"/>
            <a:ext cx="568908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Static lists do not adapt to </a:t>
            </a: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target role, seniority, or </a:t>
            </a: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previous answers.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711360" y="4662360"/>
            <a:ext cx="6146280" cy="1259640"/>
          </a:xfrm>
          <a:prstGeom prst="roundRect">
            <a:avLst>
              <a:gd name="adj" fmla="val 6984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939600" y="4844520"/>
            <a:ext cx="56890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Vague post-interview feedback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939600" y="5161320"/>
            <a:ext cx="568908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Rejection emails offer mystery scores with no clear guidance on what to fix.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0" descr="preencoded.png"/>
          <p:cNvPicPr/>
          <p:nvPr/>
        </p:nvPicPr>
        <p:blipFill>
          <a:blip r:embed="rId1"/>
          <a:stretch/>
        </p:blipFill>
        <p:spPr>
          <a:xfrm>
            <a:off x="7607160" y="2321640"/>
            <a:ext cx="3936600" cy="221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609480" y="619200"/>
            <a:ext cx="11581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pc="96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SOLUTION 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609480" y="924840"/>
            <a:ext cx="109720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600" b="0" u="none" spc="-37" strike="noStrike">
                <a:solidFill>
                  <a:srgbClr val="051D3A"/>
                </a:solidFill>
                <a:effectLst/>
                <a:uFillTx/>
                <a:latin typeface="Funnel Display Medium"/>
                <a:ea typeface="Funnel Display Medium"/>
              </a:rPr>
              <a:t>ViewPilot turns practice into a coaching loop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609480" y="1582920"/>
            <a:ext cx="115819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A continuous cycle designed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to diagnose gaps and guide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deliberate improvement.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0" descr="preencoded.png"/>
          <p:cNvPicPr/>
          <p:nvPr/>
        </p:nvPicPr>
        <p:blipFill>
          <a:blip r:embed="rId1"/>
          <a:stretch/>
        </p:blipFill>
        <p:spPr>
          <a:xfrm>
            <a:off x="609480" y="2101680"/>
            <a:ext cx="523440" cy="52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3"/>
          <p:cNvSpPr/>
          <p:nvPr/>
        </p:nvSpPr>
        <p:spPr>
          <a:xfrm>
            <a:off x="609480" y="2817000"/>
            <a:ext cx="24760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051D3A"/>
                </a:solidFill>
                <a:effectLst/>
                <a:uFillTx/>
                <a:latin typeface="Funnel Sans SemiBold"/>
                <a:ea typeface="Funnel Sans SemiBold"/>
              </a:rPr>
              <a:t>Prepare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609480" y="3246840"/>
            <a:ext cx="2476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Role, level &amp; format target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1" descr="preencoded.png"/>
          <p:cNvPicPr/>
          <p:nvPr/>
        </p:nvPicPr>
        <p:blipFill>
          <a:blip r:embed="rId2"/>
          <a:stretch/>
        </p:blipFill>
        <p:spPr>
          <a:xfrm>
            <a:off x="3390840" y="2101680"/>
            <a:ext cx="523440" cy="52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5"/>
          <p:cNvSpPr/>
          <p:nvPr/>
        </p:nvSpPr>
        <p:spPr>
          <a:xfrm>
            <a:off x="3390840" y="2817000"/>
            <a:ext cx="24760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051D3A"/>
                </a:solidFill>
                <a:effectLst/>
                <a:uFillTx/>
                <a:latin typeface="Funnel Sans SemiBold"/>
                <a:ea typeface="Funnel Sans SemiBold"/>
              </a:rPr>
              <a:t>Answer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3390840" y="3246840"/>
            <a:ext cx="247608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Adaptive dynamic questions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2" descr="preencoded.png"/>
          <p:cNvPicPr/>
          <p:nvPr/>
        </p:nvPicPr>
        <p:blipFill>
          <a:blip r:embed="rId3"/>
          <a:stretch/>
        </p:blipFill>
        <p:spPr>
          <a:xfrm>
            <a:off x="609480" y="4327560"/>
            <a:ext cx="523440" cy="52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7"/>
          <p:cNvSpPr/>
          <p:nvPr/>
        </p:nvSpPr>
        <p:spPr>
          <a:xfrm>
            <a:off x="609480" y="5042880"/>
            <a:ext cx="24760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051D3A"/>
                </a:solidFill>
                <a:effectLst/>
                <a:uFillTx/>
                <a:latin typeface="Funnel Sans SemiBold"/>
                <a:ea typeface="Funnel Sans SemiBold"/>
              </a:rPr>
              <a:t>Understand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609480" y="5472720"/>
            <a:ext cx="247608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Evidence-backed scorecards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3" descr="preencoded.png"/>
          <p:cNvPicPr/>
          <p:nvPr/>
        </p:nvPicPr>
        <p:blipFill>
          <a:blip r:embed="rId4"/>
          <a:stretch/>
        </p:blipFill>
        <p:spPr>
          <a:xfrm>
            <a:off x="3390840" y="4327560"/>
            <a:ext cx="523440" cy="52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9"/>
          <p:cNvSpPr/>
          <p:nvPr/>
        </p:nvSpPr>
        <p:spPr>
          <a:xfrm>
            <a:off x="3390840" y="5042880"/>
            <a:ext cx="24760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051D3A"/>
                </a:solidFill>
                <a:effectLst/>
                <a:uFillTx/>
                <a:latin typeface="Funnel Sans SemiBold"/>
                <a:ea typeface="Funnel Sans SemiBold"/>
              </a:rPr>
              <a:t>Improve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3390840" y="5472720"/>
            <a:ext cx="247608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Targeted exercises &amp; rewrites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1"/>
          <p:cNvSpPr/>
          <p:nvPr/>
        </p:nvSpPr>
        <p:spPr>
          <a:xfrm>
            <a:off x="6324480" y="2101680"/>
            <a:ext cx="5257440" cy="1280160"/>
          </a:xfrm>
          <a:prstGeom prst="roundRect">
            <a:avLst>
              <a:gd name="adj" fmla="val 6873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6527520" y="2258280"/>
            <a:ext cx="48510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Personalized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6527520" y="2575080"/>
            <a:ext cx="505404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Role, level, type, and difficulty.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4"/>
          <p:cNvSpPr/>
          <p:nvPr/>
        </p:nvSpPr>
        <p:spPr>
          <a:xfrm>
            <a:off x="6324480" y="3534840"/>
            <a:ext cx="5257440" cy="1280160"/>
          </a:xfrm>
          <a:prstGeom prst="roundRect">
            <a:avLst>
              <a:gd name="adj" fmla="val 6872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6527520" y="3691080"/>
            <a:ext cx="48510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Interactive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6527520" y="4007880"/>
            <a:ext cx="505404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Text first; voice as an extension.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7"/>
          <p:cNvSpPr/>
          <p:nvPr/>
        </p:nvSpPr>
        <p:spPr>
          <a:xfrm>
            <a:off x="6324480" y="4967640"/>
            <a:ext cx="5257440" cy="1280160"/>
          </a:xfrm>
          <a:prstGeom prst="roundRect">
            <a:avLst>
              <a:gd name="adj" fmla="val 6872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6527520" y="5124240"/>
            <a:ext cx="48510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Actionable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6527520" y="5441040"/>
            <a:ext cx="505404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Strengths, gaps, </a:t>
            </a: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evidence, and </a:t>
            </a: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practice tasks.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609480" y="619200"/>
            <a:ext cx="11581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pc="96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USER WORKFLOW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609480" y="924840"/>
            <a:ext cx="109720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600" b="0" u="none" spc="-37" strike="noStrike">
                <a:solidFill>
                  <a:srgbClr val="051D3A"/>
                </a:solidFill>
                <a:effectLst/>
                <a:uFillTx/>
                <a:latin typeface="Funnel Display Medium"/>
                <a:ea typeface="Funnel Display Medium"/>
              </a:rPr>
              <a:t>Steps from setup to better answers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609480" y="1582920"/>
            <a:ext cx="115819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Fast onboarding gets candidates into realistic practice in under thirty seconds.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609480" y="2811600"/>
            <a:ext cx="3453840" cy="2539440"/>
          </a:xfrm>
          <a:prstGeom prst="roundRect">
            <a:avLst>
              <a:gd name="adj" fmla="val 3465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044800" y="3090960"/>
            <a:ext cx="583920" cy="583920"/>
          </a:xfrm>
          <a:prstGeom prst="ellipse">
            <a:avLst/>
          </a:prstGeom>
          <a:solidFill>
            <a:srgbClr val="7FD6D2"/>
          </a:solidFill>
          <a:ln w="0">
            <a:noFill/>
          </a:ln>
          <a:effectLst>
            <a:outerShdw algn="bl" blurRad="125640" dir="0" dist="0" kx="0" ky="0" rotWithShape="0" sx="100000" sy="100000">
              <a:srgbClr val="6A4FC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2044800" y="3090960"/>
            <a:ext cx="58392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5"/>
          <p:cNvSpPr/>
          <p:nvPr/>
        </p:nvSpPr>
        <p:spPr>
          <a:xfrm>
            <a:off x="2183400" y="3249720"/>
            <a:ext cx="915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051D3A"/>
                </a:solidFill>
                <a:effectLst/>
                <a:uFillTx/>
                <a:latin typeface="Funnel Display SemiBold"/>
                <a:ea typeface="Funnel Display SemiBold"/>
              </a:rPr>
              <a:t>01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1939680" y="3765240"/>
            <a:ext cx="29458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Choose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863640" y="4195080"/>
            <a:ext cx="2945880" cy="8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Select target role, seniority level, and format, from behavioral to system design.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4368600" y="2811600"/>
            <a:ext cx="3453840" cy="2539440"/>
          </a:xfrm>
          <a:prstGeom prst="roundRect">
            <a:avLst>
              <a:gd name="adj" fmla="val 3465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5803920" y="3090960"/>
            <a:ext cx="583920" cy="583920"/>
          </a:xfrm>
          <a:prstGeom prst="ellipse">
            <a:avLst/>
          </a:prstGeom>
          <a:solidFill>
            <a:srgbClr val="7FD6D2"/>
          </a:solidFill>
          <a:ln w="0">
            <a:noFill/>
          </a:ln>
          <a:effectLst>
            <a:outerShdw algn="bl" blurRad="125640" dir="0" dist="0" kx="0" ky="0" rotWithShape="0" sx="100000" sy="100000">
              <a:srgbClr val="6A4FC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1" descr="preencoded.png"/>
          <p:cNvPicPr/>
          <p:nvPr/>
        </p:nvPicPr>
        <p:blipFill>
          <a:blip r:embed="rId2"/>
          <a:stretch/>
        </p:blipFill>
        <p:spPr>
          <a:xfrm>
            <a:off x="5803920" y="3090960"/>
            <a:ext cx="58392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10"/>
          <p:cNvSpPr/>
          <p:nvPr/>
        </p:nvSpPr>
        <p:spPr>
          <a:xfrm>
            <a:off x="5942520" y="3249720"/>
            <a:ext cx="915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051D3A"/>
                </a:solidFill>
                <a:effectLst/>
                <a:uFillTx/>
                <a:latin typeface="Funnel Display SemiBold"/>
                <a:ea typeface="Funnel Display SemiBold"/>
              </a:rPr>
              <a:t>02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5599080" y="3765240"/>
            <a:ext cx="29458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Interview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4622760" y="4195080"/>
            <a:ext cx="2945880" cy="8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Answer adaptive prompts served one at a time, with realistic interviewer follow-ups.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8127720" y="2811600"/>
            <a:ext cx="3453840" cy="2539440"/>
          </a:xfrm>
          <a:prstGeom prst="roundRect">
            <a:avLst>
              <a:gd name="adj" fmla="val 3465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9563040" y="3090960"/>
            <a:ext cx="583920" cy="583920"/>
          </a:xfrm>
          <a:prstGeom prst="ellipse">
            <a:avLst/>
          </a:prstGeom>
          <a:solidFill>
            <a:srgbClr val="7FD6D2"/>
          </a:solidFill>
          <a:ln w="0">
            <a:noFill/>
          </a:ln>
          <a:effectLst>
            <a:outerShdw algn="bl" blurRad="125640" dir="0" dist="0" kx="0" ky="0" rotWithShape="0" sx="100000" sy="100000">
              <a:srgbClr val="6A4FC8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2" descr="preencoded.png"/>
          <p:cNvPicPr/>
          <p:nvPr/>
        </p:nvPicPr>
        <p:blipFill>
          <a:blip r:embed="rId3"/>
          <a:stretch/>
        </p:blipFill>
        <p:spPr>
          <a:xfrm>
            <a:off x="9563040" y="3090960"/>
            <a:ext cx="58392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15"/>
          <p:cNvSpPr/>
          <p:nvPr/>
        </p:nvSpPr>
        <p:spPr>
          <a:xfrm>
            <a:off x="9701640" y="3249720"/>
            <a:ext cx="915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051D3A"/>
                </a:solidFill>
                <a:effectLst/>
                <a:uFillTx/>
                <a:latin typeface="Funnel Display SemiBold"/>
                <a:ea typeface="Funnel Display SemiBold"/>
              </a:rPr>
              <a:t>03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9421200" y="3765240"/>
            <a:ext cx="29458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Improve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8381880" y="4195080"/>
            <a:ext cx="2945880" cy="8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Receive evidence-grounded rubrics, quote analyses, and instant practice drills.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09480" y="619200"/>
            <a:ext cx="11581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pc="96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DEMO WALKTHROUGH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09480" y="924840"/>
            <a:ext cx="109720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600" b="0" u="none" spc="-37" strike="noStrike">
                <a:solidFill>
                  <a:srgbClr val="051D3A"/>
                </a:solidFill>
                <a:effectLst/>
                <a:uFillTx/>
                <a:latin typeface="Funnel Display Medium"/>
                <a:ea typeface="Funnel Display Medium"/>
              </a:rPr>
              <a:t>A candidate journey judges can follow in one demo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609480" y="1773720"/>
            <a:ext cx="10972080" cy="4070880"/>
          </a:xfrm>
          <a:prstGeom prst="roundRect">
            <a:avLst>
              <a:gd name="adj" fmla="val 2162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914400" y="3809520"/>
            <a:ext cx="10362600" cy="28080"/>
          </a:xfrm>
          <a:prstGeom prst="roundRect">
            <a:avLst>
              <a:gd name="adj" fmla="val 49999"/>
            </a:avLst>
          </a:prstGeom>
          <a:solidFill>
            <a:srgbClr val="E3D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4840" rIns="90000" bIns="-24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2539800" y="3180600"/>
            <a:ext cx="28080" cy="628200"/>
          </a:xfrm>
          <a:prstGeom prst="roundRect">
            <a:avLst>
              <a:gd name="adj" fmla="val 50000"/>
            </a:avLst>
          </a:prstGeom>
          <a:solidFill>
            <a:srgbClr val="AF9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2318400" y="3573720"/>
            <a:ext cx="471240" cy="471240"/>
          </a:xfrm>
          <a:prstGeom prst="roundRect">
            <a:avLst>
              <a:gd name="adj" fmla="val 18667"/>
            </a:avLst>
          </a:prstGeom>
          <a:solidFill>
            <a:srgbClr val="C9B8F2"/>
          </a:solidFill>
          <a:ln w="0">
            <a:noFill/>
          </a:ln>
          <a:effectLst>
            <a:outerShdw algn="bl" blurRad="313560" dir="0" dist="0" kx="0" ky="0" rotWithShape="0" sx="100000" sy="100000">
              <a:srgbClr val="523D1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2397240" y="3642840"/>
            <a:ext cx="3139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0" u="none" spc="-26" strike="noStrike">
                <a:solidFill>
                  <a:srgbClr val="000000"/>
                </a:solidFill>
                <a:effectLst/>
                <a:uFillTx/>
                <a:latin typeface="Funnel Display Medium"/>
                <a:ea typeface="Funnel Display Medium"/>
              </a:rPr>
              <a:t>1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1123920" y="1977120"/>
            <a:ext cx="28602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17" strike="noStrike">
                <a:solidFill>
                  <a:srgbClr val="2B3541"/>
                </a:solidFill>
                <a:effectLst/>
                <a:uFillTx/>
                <a:latin typeface="Funnel Display Medium"/>
                <a:ea typeface="Funnel Display Medium"/>
              </a:rPr>
              <a:t>Set up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1123920" y="2384640"/>
            <a:ext cx="286020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Role, experience, interview type, difficulty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4310640" y="3809520"/>
            <a:ext cx="28080" cy="628200"/>
          </a:xfrm>
          <a:prstGeom prst="roundRect">
            <a:avLst>
              <a:gd name="adj" fmla="val 50000"/>
            </a:avLst>
          </a:prstGeom>
          <a:solidFill>
            <a:srgbClr val="8FC6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4089240" y="3573720"/>
            <a:ext cx="471240" cy="471240"/>
          </a:xfrm>
          <a:prstGeom prst="roundRect">
            <a:avLst>
              <a:gd name="adj" fmla="val 18667"/>
            </a:avLst>
          </a:prstGeom>
          <a:solidFill>
            <a:srgbClr val="A9E0DB"/>
          </a:solidFill>
          <a:ln w="0">
            <a:noFill/>
          </a:ln>
          <a:effectLst>
            <a:outerShdw algn="bl" blurRad="313560" dir="0" dist="0" kx="0" ky="0" rotWithShape="0" sx="100000" sy="100000">
              <a:srgbClr val="523D1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4167720" y="3642840"/>
            <a:ext cx="3139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0" u="none" spc="-26" strike="noStrike">
                <a:solidFill>
                  <a:srgbClr val="000000"/>
                </a:solidFill>
                <a:effectLst/>
                <a:uFillTx/>
                <a:latin typeface="Funnel Display Medium"/>
                <a:ea typeface="Funnel Display Medium"/>
              </a:rPr>
              <a:t>2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2894760" y="4647600"/>
            <a:ext cx="28602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17" strike="noStrike">
                <a:solidFill>
                  <a:srgbClr val="2B3541"/>
                </a:solidFill>
                <a:effectLst/>
                <a:uFillTx/>
                <a:latin typeface="Funnel Display Medium"/>
                <a:ea typeface="Funnel Display Medium"/>
              </a:rPr>
              <a:t>Warm up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2894760" y="5055120"/>
            <a:ext cx="286020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Format explained; session starts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6081480" y="3180600"/>
            <a:ext cx="28080" cy="628200"/>
          </a:xfrm>
          <a:prstGeom prst="roundRect">
            <a:avLst>
              <a:gd name="adj" fmla="val 50000"/>
            </a:avLst>
          </a:prstGeom>
          <a:solidFill>
            <a:srgbClr val="D8A2B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5"/>
          <p:cNvSpPr/>
          <p:nvPr/>
        </p:nvSpPr>
        <p:spPr>
          <a:xfrm>
            <a:off x="5860080" y="3573720"/>
            <a:ext cx="471240" cy="471240"/>
          </a:xfrm>
          <a:prstGeom prst="roundRect">
            <a:avLst>
              <a:gd name="adj" fmla="val 18667"/>
            </a:avLst>
          </a:prstGeom>
          <a:solidFill>
            <a:srgbClr val="F2BCD5"/>
          </a:solidFill>
          <a:ln w="0">
            <a:noFill/>
          </a:ln>
          <a:effectLst>
            <a:outerShdw algn="bl" blurRad="313560" dir="0" dist="0" kx="0" ky="0" rotWithShape="0" sx="100000" sy="100000">
              <a:srgbClr val="523D1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5938560" y="3642840"/>
            <a:ext cx="3139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0" u="none" spc="-26" strike="noStrike">
                <a:solidFill>
                  <a:srgbClr val="000000"/>
                </a:solidFill>
                <a:effectLst/>
                <a:uFillTx/>
                <a:latin typeface="Funnel Display Medium"/>
                <a:ea typeface="Funnel Display Medium"/>
              </a:rPr>
              <a:t>3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4665600" y="1977120"/>
            <a:ext cx="28602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17" strike="noStrike">
                <a:solidFill>
                  <a:srgbClr val="2B3541"/>
                </a:solidFill>
                <a:effectLst/>
                <a:uFillTx/>
                <a:latin typeface="Funnel Display Medium"/>
                <a:ea typeface="Funnel Display Medium"/>
              </a:rPr>
              <a:t>Answer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4665600" y="2384640"/>
            <a:ext cx="286020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One question at a time, relevant follow-up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9"/>
          <p:cNvSpPr/>
          <p:nvPr/>
        </p:nvSpPr>
        <p:spPr>
          <a:xfrm>
            <a:off x="7852320" y="3809520"/>
            <a:ext cx="28080" cy="628200"/>
          </a:xfrm>
          <a:prstGeom prst="roundRect">
            <a:avLst>
              <a:gd name="adj" fmla="val 50000"/>
            </a:avLst>
          </a:prstGeom>
          <a:solidFill>
            <a:srgbClr val="AF9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0"/>
          <p:cNvSpPr/>
          <p:nvPr/>
        </p:nvSpPr>
        <p:spPr>
          <a:xfrm>
            <a:off x="7630920" y="3573720"/>
            <a:ext cx="471240" cy="471240"/>
          </a:xfrm>
          <a:prstGeom prst="roundRect">
            <a:avLst>
              <a:gd name="adj" fmla="val 18667"/>
            </a:avLst>
          </a:prstGeom>
          <a:solidFill>
            <a:srgbClr val="C9B8F2"/>
          </a:solidFill>
          <a:ln w="0">
            <a:noFill/>
          </a:ln>
          <a:effectLst>
            <a:outerShdw algn="bl" blurRad="313560" dir="0" dist="0" kx="0" ky="0" rotWithShape="0" sx="100000" sy="100000">
              <a:srgbClr val="523D1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7709400" y="3642840"/>
            <a:ext cx="3139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0" u="none" spc="-26" strike="noStrike">
                <a:solidFill>
                  <a:srgbClr val="000000"/>
                </a:solidFill>
                <a:effectLst/>
                <a:uFillTx/>
                <a:latin typeface="Funnel Display Medium"/>
                <a:ea typeface="Funnel Display Medium"/>
              </a:rPr>
              <a:t>4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2"/>
          <p:cNvSpPr/>
          <p:nvPr/>
        </p:nvSpPr>
        <p:spPr>
          <a:xfrm>
            <a:off x="6436440" y="4647600"/>
            <a:ext cx="28602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17" strike="noStrike">
                <a:solidFill>
                  <a:srgbClr val="2B3541"/>
                </a:solidFill>
                <a:effectLst/>
                <a:uFillTx/>
                <a:latin typeface="Funnel Display Medium"/>
                <a:ea typeface="Funnel Display Medium"/>
              </a:rPr>
              <a:t>Evaluate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3"/>
          <p:cNvSpPr/>
          <p:nvPr/>
        </p:nvSpPr>
        <p:spPr>
          <a:xfrm>
            <a:off x="6436440" y="5055120"/>
            <a:ext cx="28602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Scored against a visible rubric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4"/>
          <p:cNvSpPr/>
          <p:nvPr/>
        </p:nvSpPr>
        <p:spPr>
          <a:xfrm>
            <a:off x="9623160" y="3180600"/>
            <a:ext cx="28080" cy="628200"/>
          </a:xfrm>
          <a:prstGeom prst="roundRect">
            <a:avLst>
              <a:gd name="adj" fmla="val 50000"/>
            </a:avLst>
          </a:prstGeom>
          <a:solidFill>
            <a:srgbClr val="8FC6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5"/>
          <p:cNvSpPr/>
          <p:nvPr/>
        </p:nvSpPr>
        <p:spPr>
          <a:xfrm>
            <a:off x="9401760" y="3573720"/>
            <a:ext cx="471240" cy="471240"/>
          </a:xfrm>
          <a:prstGeom prst="roundRect">
            <a:avLst>
              <a:gd name="adj" fmla="val 18667"/>
            </a:avLst>
          </a:prstGeom>
          <a:solidFill>
            <a:srgbClr val="A9E0DB"/>
          </a:solidFill>
          <a:ln w="0">
            <a:noFill/>
          </a:ln>
          <a:effectLst>
            <a:outerShdw algn="bl" blurRad="313560" dir="0" dist="0" kx="0" ky="0" rotWithShape="0" sx="100000" sy="100000">
              <a:srgbClr val="523D1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6"/>
          <p:cNvSpPr/>
          <p:nvPr/>
        </p:nvSpPr>
        <p:spPr>
          <a:xfrm>
            <a:off x="9480240" y="3642840"/>
            <a:ext cx="3139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0" u="none" spc="-26" strike="noStrike">
                <a:solidFill>
                  <a:srgbClr val="000000"/>
                </a:solidFill>
                <a:effectLst/>
                <a:uFillTx/>
                <a:latin typeface="Funnel Display Medium"/>
                <a:ea typeface="Funnel Display Medium"/>
              </a:rPr>
              <a:t>5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7"/>
          <p:cNvSpPr/>
          <p:nvPr/>
        </p:nvSpPr>
        <p:spPr>
          <a:xfrm>
            <a:off x="8207280" y="1977120"/>
            <a:ext cx="28602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17" strike="noStrike">
                <a:solidFill>
                  <a:srgbClr val="2B3541"/>
                </a:solidFill>
                <a:effectLst/>
                <a:uFillTx/>
                <a:latin typeface="Funnel Display Medium"/>
                <a:ea typeface="Funnel Display Medium"/>
              </a:rPr>
              <a:t>Improve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8"/>
          <p:cNvSpPr/>
          <p:nvPr/>
        </p:nvSpPr>
        <p:spPr>
          <a:xfrm>
            <a:off x="8207280" y="2384640"/>
            <a:ext cx="286020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Report with evidence and next exercises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609480" y="619200"/>
            <a:ext cx="11581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pc="96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EVALUATION STANDARD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609480" y="924840"/>
            <a:ext cx="109720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600" b="0" u="none" spc="-37" strike="noStrike">
                <a:solidFill>
                  <a:srgbClr val="051D3A"/>
                </a:solidFill>
                <a:effectLst/>
                <a:uFillTx/>
                <a:latin typeface="Funnel Display Medium"/>
                <a:ea typeface="Funnel Display Medium"/>
              </a:rPr>
              <a:t>Feedback you can trust, not a mystery score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609480" y="1582920"/>
            <a:ext cx="115819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Four transparent dimensions pair clear evaluative criteria with concrete coaching advice.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609480" y="2018160"/>
            <a:ext cx="5333400" cy="1910520"/>
          </a:xfrm>
          <a:prstGeom prst="roundRect">
            <a:avLst>
              <a:gd name="adj" fmla="val 4605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888840" y="2123640"/>
            <a:ext cx="47746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Communication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888840" y="2440440"/>
            <a:ext cx="505404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B3541"/>
                </a:solidFill>
                <a:effectLst/>
                <a:uFillTx/>
                <a:latin typeface="Funnel Sans Bold"/>
                <a:ea typeface="Funnel Sans Bold"/>
              </a:rPr>
              <a:t>Criteria:</a:t>
            </a: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 Conciseness, structure, and STAR clarity.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888840" y="2902320"/>
            <a:ext cx="4774680" cy="31320"/>
          </a:xfrm>
          <a:prstGeom prst="roundRect">
            <a:avLst>
              <a:gd name="adj" fmla="val 49998"/>
            </a:avLst>
          </a:prstGeom>
          <a:solidFill>
            <a:srgbClr val="E3D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888840" y="3114000"/>
            <a:ext cx="47746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B8367F"/>
                </a:solidFill>
                <a:effectLst/>
                <a:uFillTx/>
                <a:latin typeface="Funnel Sans"/>
                <a:ea typeface="Funnel Sans"/>
              </a:rPr>
              <a:t>Coaching Tip:</a:t>
            </a:r>
            <a:r>
              <a:rPr lang="en-US" sz="12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 Lead directly with the result before diving into the background context.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6248160" y="2018160"/>
            <a:ext cx="5333400" cy="1910520"/>
          </a:xfrm>
          <a:prstGeom prst="roundRect">
            <a:avLst>
              <a:gd name="adj" fmla="val 4605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6527520" y="2123640"/>
            <a:ext cx="47746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Role Knowledge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6527520" y="2440440"/>
            <a:ext cx="477468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B3541"/>
                </a:solidFill>
                <a:effectLst/>
                <a:uFillTx/>
                <a:latin typeface="Funnel Sans Bold"/>
                <a:ea typeface="Funnel Sans Bold"/>
              </a:rPr>
              <a:t>Criteria:</a:t>
            </a: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 Technical depth and appropriate </a:t>
            </a: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domain terminology.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6527520" y="3195720"/>
            <a:ext cx="4774680" cy="31320"/>
          </a:xfrm>
          <a:prstGeom prst="roundRect">
            <a:avLst>
              <a:gd name="adj" fmla="val 49998"/>
            </a:avLst>
          </a:prstGeom>
          <a:solidFill>
            <a:srgbClr val="E3D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6527520" y="3407040"/>
            <a:ext cx="47746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B8367F"/>
                </a:solidFill>
                <a:effectLst/>
                <a:uFillTx/>
                <a:latin typeface="Funnel Sans"/>
                <a:ea typeface="Funnel Sans"/>
              </a:rPr>
              <a:t>Coaching Tip:</a:t>
            </a:r>
            <a:r>
              <a:rPr lang="en-US" sz="12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 Name specific tradeoffs, like latency vs. storage cost, in your architecture choice.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3"/>
          <p:cNvSpPr/>
          <p:nvPr/>
        </p:nvSpPr>
        <p:spPr>
          <a:xfrm>
            <a:off x="609480" y="4233960"/>
            <a:ext cx="5333400" cy="1910520"/>
          </a:xfrm>
          <a:prstGeom prst="roundRect">
            <a:avLst>
              <a:gd name="adj" fmla="val 4605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888840" y="4339440"/>
            <a:ext cx="47746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Problem </a:t>
            </a: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Solving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888840" y="4656240"/>
            <a:ext cx="477468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B3541"/>
                </a:solidFill>
                <a:effectLst/>
                <a:uFillTx/>
                <a:latin typeface="Funnel Sans Bold"/>
                <a:ea typeface="Funnel Sans Bold"/>
              </a:rPr>
              <a:t>Criteria:</a:t>
            </a: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 Structured logic, assumptions, and edge-case handling.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6"/>
          <p:cNvSpPr/>
          <p:nvPr/>
        </p:nvSpPr>
        <p:spPr>
          <a:xfrm>
            <a:off x="888840" y="5411520"/>
            <a:ext cx="4774680" cy="31320"/>
          </a:xfrm>
          <a:prstGeom prst="roundRect">
            <a:avLst>
              <a:gd name="adj" fmla="val 49998"/>
            </a:avLst>
          </a:prstGeom>
          <a:solidFill>
            <a:srgbClr val="E3D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888840" y="5623200"/>
            <a:ext cx="47746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B8367F"/>
                </a:solidFill>
                <a:effectLst/>
                <a:uFillTx/>
                <a:latin typeface="Funnel Sans"/>
                <a:ea typeface="Funnel Sans"/>
              </a:rPr>
              <a:t>Coaching Tip:</a:t>
            </a:r>
            <a:r>
              <a:rPr lang="en-US" sz="12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 State constraints explicitly before proposing your primary solution.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8"/>
          <p:cNvSpPr/>
          <p:nvPr/>
        </p:nvSpPr>
        <p:spPr>
          <a:xfrm>
            <a:off x="6248160" y="4233960"/>
            <a:ext cx="5333400" cy="1910520"/>
          </a:xfrm>
          <a:prstGeom prst="roundRect">
            <a:avLst>
              <a:gd name="adj" fmla="val 4605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9"/>
          <p:cNvSpPr/>
          <p:nvPr/>
        </p:nvSpPr>
        <p:spPr>
          <a:xfrm>
            <a:off x="6527520" y="4339440"/>
            <a:ext cx="47746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Answer Quality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0"/>
          <p:cNvSpPr/>
          <p:nvPr/>
        </p:nvSpPr>
        <p:spPr>
          <a:xfrm>
            <a:off x="6527520" y="4656240"/>
            <a:ext cx="477468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B3541"/>
                </a:solidFill>
                <a:effectLst/>
                <a:uFillTx/>
                <a:latin typeface="Funnel Sans Bold"/>
                <a:ea typeface="Funnel Sans Bold"/>
              </a:rPr>
              <a:t>Criteria:</a:t>
            </a: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 Relevance to prompt and depth of concrete evidence.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1"/>
          <p:cNvSpPr/>
          <p:nvPr/>
        </p:nvSpPr>
        <p:spPr>
          <a:xfrm>
            <a:off x="6527520" y="5411520"/>
            <a:ext cx="4774680" cy="31320"/>
          </a:xfrm>
          <a:prstGeom prst="roundRect">
            <a:avLst>
              <a:gd name="adj" fmla="val 49998"/>
            </a:avLst>
          </a:prstGeom>
          <a:solidFill>
            <a:srgbClr val="E3D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2"/>
          <p:cNvSpPr/>
          <p:nvPr/>
        </p:nvSpPr>
        <p:spPr>
          <a:xfrm>
            <a:off x="6527520" y="5623200"/>
            <a:ext cx="47746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B8367F"/>
                </a:solidFill>
                <a:effectLst/>
                <a:uFillTx/>
                <a:latin typeface="Funnel Sans"/>
                <a:ea typeface="Funnel Sans"/>
              </a:rPr>
              <a:t>Coaching Tip:</a:t>
            </a:r>
            <a:r>
              <a:rPr lang="en-US" sz="12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 Replace hypothetical answers with one concrete metric from your real project.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6890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0"/>
          <p:cNvSpPr/>
          <p:nvPr/>
        </p:nvSpPr>
        <p:spPr>
          <a:xfrm>
            <a:off x="6222960" y="238680"/>
            <a:ext cx="5968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pc="96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ACTIONABLE OUTPUT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6222960" y="543960"/>
            <a:ext cx="551124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600" b="0" u="none" spc="-37" strike="noStrike">
                <a:solidFill>
                  <a:srgbClr val="051D3A"/>
                </a:solidFill>
                <a:effectLst/>
                <a:uFillTx/>
                <a:latin typeface="Funnel Display Medium"/>
                <a:ea typeface="Funnel Display Medium"/>
              </a:rPr>
              <a:t>The report shows the why behind every score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6222960" y="1686960"/>
            <a:ext cx="55112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Every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critique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ties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directly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to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candida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te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transcri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pts,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removin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g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ambigui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ty.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6222960" y="2543400"/>
            <a:ext cx="5511240" cy="1259640"/>
          </a:xfrm>
          <a:prstGeom prst="roundRect">
            <a:avLst>
              <a:gd name="adj" fmla="val 6984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6451560" y="2725560"/>
            <a:ext cx="50540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Transparent Scorecard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6451560" y="3042360"/>
            <a:ext cx="505404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Scores across all 4 dimensions with an overarching performance executive summary.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6222960" y="3956040"/>
            <a:ext cx="5511240" cy="1259640"/>
          </a:xfrm>
          <a:prstGeom prst="roundRect">
            <a:avLst>
              <a:gd name="adj" fmla="val 6984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6451560" y="4138200"/>
            <a:ext cx="50540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Transcript Evidence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6451560" y="4454640"/>
            <a:ext cx="505404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Exact verbatim quotes highlighted to justify strengths and identify missed signals.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6222960" y="5368680"/>
            <a:ext cx="5511240" cy="1259640"/>
          </a:xfrm>
          <a:prstGeom prst="roundRect">
            <a:avLst>
              <a:gd name="adj" fmla="val 6984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6451560" y="5550480"/>
            <a:ext cx="50540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Targeted Next </a:t>
            </a: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Practice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6451560" y="5867280"/>
            <a:ext cx="505404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2 to 3 micro-actions plus an improved answer blueprint ready for immediate re-practice.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609480" y="619200"/>
            <a:ext cx="11581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pc="96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SYSTEM 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609480" y="924840"/>
            <a:ext cx="109720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600" b="0" u="none" spc="-37" strike="noStrike">
                <a:solidFill>
                  <a:srgbClr val="051D3A"/>
                </a:solidFill>
                <a:effectLst/>
                <a:uFillTx/>
                <a:latin typeface="Funnel Display Medium"/>
                <a:ea typeface="Funnel Display Medium"/>
              </a:rPr>
              <a:t>A small architecture that is easy to build and secure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609480" y="1582920"/>
            <a:ext cx="115819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Lean, stateless, server-isolated data flow designed for hackathon velocity and security.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609480" y="2360880"/>
            <a:ext cx="1950480" cy="2718720"/>
          </a:xfrm>
          <a:prstGeom prst="roundRect">
            <a:avLst>
              <a:gd name="adj" fmla="val 4512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0" descr="preencoded.png"/>
          <p:cNvPicPr/>
          <p:nvPr/>
        </p:nvPicPr>
        <p:blipFill>
          <a:blip r:embed="rId1"/>
          <a:stretch/>
        </p:blipFill>
        <p:spPr>
          <a:xfrm>
            <a:off x="787320" y="256392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4"/>
          <p:cNvSpPr/>
          <p:nvPr/>
        </p:nvSpPr>
        <p:spPr>
          <a:xfrm>
            <a:off x="787320" y="3107880"/>
            <a:ext cx="15948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Candidate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787320" y="3424680"/>
            <a:ext cx="1594800" cy="8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Uses the responsive browser UI.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6"/>
          <p:cNvSpPr/>
          <p:nvPr/>
        </p:nvSpPr>
        <p:spPr>
          <a:xfrm>
            <a:off x="2864880" y="2360880"/>
            <a:ext cx="1950480" cy="2718720"/>
          </a:xfrm>
          <a:prstGeom prst="roundRect">
            <a:avLst>
              <a:gd name="adj" fmla="val 4512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1" descr="preencoded.png"/>
          <p:cNvPicPr/>
          <p:nvPr/>
        </p:nvPicPr>
        <p:blipFill>
          <a:blip r:embed="rId2"/>
          <a:stretch/>
        </p:blipFill>
        <p:spPr>
          <a:xfrm>
            <a:off x="3042720" y="256392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7"/>
          <p:cNvSpPr/>
          <p:nvPr/>
        </p:nvSpPr>
        <p:spPr>
          <a:xfrm>
            <a:off x="3042720" y="3107880"/>
            <a:ext cx="15948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Next.js App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3042720" y="3424680"/>
            <a:ext cx="1594800" cy="8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Setup, session, and report in React.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5120280" y="2360880"/>
            <a:ext cx="1950480" cy="2718720"/>
          </a:xfrm>
          <a:prstGeom prst="roundRect">
            <a:avLst>
              <a:gd name="adj" fmla="val 4511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2" descr="preencoded.png"/>
          <p:cNvPicPr/>
          <p:nvPr/>
        </p:nvPicPr>
        <p:blipFill>
          <a:blip r:embed="rId3"/>
          <a:stretch/>
        </p:blipFill>
        <p:spPr>
          <a:xfrm>
            <a:off x="5298120" y="256392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10"/>
          <p:cNvSpPr/>
          <p:nvPr/>
        </p:nvSpPr>
        <p:spPr>
          <a:xfrm>
            <a:off x="5298120" y="3107880"/>
            <a:ext cx="15948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Server Route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5298120" y="3424680"/>
            <a:ext cx="1594800" cy="8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ZERO API keys exposed to the browser.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7376040" y="2360880"/>
            <a:ext cx="1950480" cy="2718720"/>
          </a:xfrm>
          <a:prstGeom prst="roundRect">
            <a:avLst>
              <a:gd name="adj" fmla="val 4512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3" descr="preencoded.png"/>
          <p:cNvPicPr/>
          <p:nvPr/>
        </p:nvPicPr>
        <p:blipFill>
          <a:blip r:embed="rId4"/>
          <a:stretch/>
        </p:blipFill>
        <p:spPr>
          <a:xfrm>
            <a:off x="7553880" y="256392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13"/>
          <p:cNvSpPr/>
          <p:nvPr/>
        </p:nvSpPr>
        <p:spPr>
          <a:xfrm>
            <a:off x="7553880" y="3107880"/>
            <a:ext cx="15948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Gemini LLM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7553880" y="3424680"/>
            <a:ext cx="1594800" cy="11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Questions, follow-ups, structured evaluation.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9631440" y="2360880"/>
            <a:ext cx="1950480" cy="2718720"/>
          </a:xfrm>
          <a:prstGeom prst="roundRect">
            <a:avLst>
              <a:gd name="adj" fmla="val 4511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4" descr="preencoded.png"/>
          <p:cNvPicPr/>
          <p:nvPr/>
        </p:nvPicPr>
        <p:blipFill>
          <a:blip r:embed="rId5"/>
          <a:stretch/>
        </p:blipFill>
        <p:spPr>
          <a:xfrm>
            <a:off x="9809280" y="256392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16"/>
          <p:cNvSpPr/>
          <p:nvPr/>
        </p:nvSpPr>
        <p:spPr>
          <a:xfrm>
            <a:off x="9809280" y="3107880"/>
            <a:ext cx="159480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Coaching Report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9809280" y="3706560"/>
            <a:ext cx="1594800" cy="11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Schema validation turns </a:t>
            </a: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output into actionable UI.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609480" y="5283000"/>
            <a:ext cx="10972080" cy="518760"/>
          </a:xfrm>
          <a:prstGeom prst="roundRect">
            <a:avLst>
              <a:gd name="adj" fmla="val 16954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9"/>
          <p:cNvSpPr/>
          <p:nvPr/>
        </p:nvSpPr>
        <p:spPr>
          <a:xfrm>
            <a:off x="609480" y="5443920"/>
            <a:ext cx="109720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B3541"/>
                </a:solidFill>
                <a:effectLst/>
                <a:uFillTx/>
                <a:latin typeface="Funnel Sans Bold"/>
                <a:ea typeface="Funnel Sans Bold"/>
              </a:rPr>
              <a:t>Core Stack:</a:t>
            </a:r>
            <a:r>
              <a:rPr lang="en-US" sz="12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 Next.js · React · Tailwind CSS · Google Gemini API · Vercel Edge Runtime · Optional Supabase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609480" y="619200"/>
            <a:ext cx="11581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pc="96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EXECUTION ROADMAP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609480" y="924840"/>
            <a:ext cx="109720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600" b="0" u="none" spc="-37" strike="noStrike">
                <a:solidFill>
                  <a:srgbClr val="051D3A"/>
                </a:solidFill>
                <a:effectLst/>
                <a:uFillTx/>
                <a:latin typeface="Funnel Display Medium"/>
                <a:ea typeface="Funnel Display Medium"/>
              </a:rPr>
              <a:t>Built reliable first, extended second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609480" y="1582920"/>
            <a:ext cx="115819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A disciplined prioritization framework ensuring core hackathon stability before nice-to-haves.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609480" y="2077920"/>
            <a:ext cx="3453840" cy="4006800"/>
          </a:xfrm>
          <a:prstGeom prst="roundRect">
            <a:avLst>
              <a:gd name="adj" fmla="val 2548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"/>
          <p:cNvSpPr/>
          <p:nvPr/>
        </p:nvSpPr>
        <p:spPr>
          <a:xfrm>
            <a:off x="863640" y="2357280"/>
            <a:ext cx="1513440" cy="326520"/>
          </a:xfrm>
          <a:prstGeom prst="roundRect">
            <a:avLst>
              <a:gd name="adj" fmla="val 21543"/>
            </a:avLst>
          </a:prstGeom>
          <a:solidFill>
            <a:srgbClr val="F3D8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989280" y="2422800"/>
            <a:ext cx="18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14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P0 · MUST HAVE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863640" y="2870280"/>
            <a:ext cx="29458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Rock-Solid MVP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863640" y="3297600"/>
            <a:ext cx="2945880" cy="25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Role-aware question generator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Complete dynamic interview cycle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Schema-enforced rubric report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Responsive, polished web interface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4368600" y="2077920"/>
            <a:ext cx="3453840" cy="4006800"/>
          </a:xfrm>
          <a:prstGeom prst="roundRect">
            <a:avLst>
              <a:gd name="adj" fmla="val 2548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4622760" y="2357280"/>
            <a:ext cx="1727640" cy="326520"/>
          </a:xfrm>
          <a:prstGeom prst="roundRect">
            <a:avLst>
              <a:gd name="adj" fmla="val 21543"/>
            </a:avLst>
          </a:prstGeom>
          <a:noFill/>
          <a:ln w="6350">
            <a:solidFill>
              <a:srgbClr val="2B35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4748400" y="2422800"/>
            <a:ext cx="20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14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P1 · SHOULD HAVE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1"/>
          <p:cNvSpPr/>
          <p:nvPr/>
        </p:nvSpPr>
        <p:spPr>
          <a:xfrm>
            <a:off x="4622760" y="2870280"/>
            <a:ext cx="29458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High-Value Enhancements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4622760" y="3297600"/>
            <a:ext cx="2945880" cy="25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Resume-informed personalized questions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Voice mode via web speech APIs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Real-time response timer and pace coaching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Exportable PDF performance summaries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3"/>
          <p:cNvSpPr/>
          <p:nvPr/>
        </p:nvSpPr>
        <p:spPr>
          <a:xfrm>
            <a:off x="8127720" y="2077920"/>
            <a:ext cx="3453840" cy="4006800"/>
          </a:xfrm>
          <a:prstGeom prst="roundRect">
            <a:avLst>
              <a:gd name="adj" fmla="val 2548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8381880" y="2422800"/>
            <a:ext cx="1972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14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P2 · COULD HAVE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8381880" y="2870280"/>
            <a:ext cx="294588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Future Extensions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6"/>
          <p:cNvSpPr/>
          <p:nvPr/>
        </p:nvSpPr>
        <p:spPr>
          <a:xfrm>
            <a:off x="8381880" y="3297600"/>
            <a:ext cx="2945880" cy="25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Longitudinal progress dashboard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Multi-round interview simulation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Peer review and mentor sharing link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5160" indent="-335160" defTabSz="914400">
              <a:lnSpc>
                <a:spcPct val="117000"/>
              </a:lnSpc>
              <a:buClr>
                <a:srgbClr val="2B3541"/>
              </a:buClr>
              <a:buFont typeface="Symbol" charset="2"/>
              <a:buChar char=""/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Company-specific cultural calibration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660240" y="556920"/>
            <a:ext cx="6654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pc="96" strike="noStrike">
                <a:solidFill>
                  <a:srgbClr val="8A3FA8"/>
                </a:solidFill>
                <a:effectLst/>
                <a:uFillTx/>
                <a:latin typeface="Funnel Sans SemiBold"/>
                <a:ea typeface="Funnel Sans SemiBold"/>
              </a:rPr>
              <a:t>ETHICS &amp; TRUST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660240" y="862560"/>
            <a:ext cx="61970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600" b="0" u="none" spc="-37" strike="noStrike">
                <a:solidFill>
                  <a:srgbClr val="051D3A"/>
                </a:solidFill>
                <a:effectLst/>
                <a:uFillTx/>
                <a:latin typeface="Funnel Display Medium"/>
                <a:ea typeface="Funnel Display Medium"/>
              </a:rPr>
              <a:t>Responsible by design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660240" y="1520640"/>
            <a:ext cx="61970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Principled AI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practices built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into the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product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architecture </a:t>
            </a:r>
            <a:r>
              <a:rPr lang="en-US" sz="190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from day one.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660240" y="2377440"/>
            <a:ext cx="6197040" cy="1208880"/>
          </a:xfrm>
          <a:prstGeom prst="roundRect">
            <a:avLst>
              <a:gd name="adj" fmla="val 7277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863640" y="2534040"/>
            <a:ext cx="57906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Coaching, Never Gatekeeping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863640" y="2850840"/>
            <a:ext cx="579060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Evaluations provide preparation feedback, never predictive hiring screening scores.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6"/>
          <p:cNvSpPr/>
          <p:nvPr/>
        </p:nvSpPr>
        <p:spPr>
          <a:xfrm>
            <a:off x="660240" y="3739320"/>
            <a:ext cx="6197040" cy="1208880"/>
          </a:xfrm>
          <a:prstGeom prst="roundRect">
            <a:avLst>
              <a:gd name="adj" fmla="val 7277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863640" y="3895920"/>
            <a:ext cx="57906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Zero Demographic Scoring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8"/>
          <p:cNvSpPr/>
          <p:nvPr/>
        </p:nvSpPr>
        <p:spPr>
          <a:xfrm>
            <a:off x="863640" y="4212360"/>
            <a:ext cx="579060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No evaluation of accent, appearance, pitch, age, or gender—strictly answer content.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9"/>
          <p:cNvSpPr/>
          <p:nvPr/>
        </p:nvSpPr>
        <p:spPr>
          <a:xfrm>
            <a:off x="660240" y="5101200"/>
            <a:ext cx="6197040" cy="1208880"/>
          </a:xfrm>
          <a:prstGeom prst="roundRect">
            <a:avLst>
              <a:gd name="adj" fmla="val 7277"/>
            </a:avLst>
          </a:prstGeom>
          <a:solidFill>
            <a:srgbClr val="FFFCF6"/>
          </a:solidFill>
          <a:ln w="0">
            <a:noFill/>
          </a:ln>
          <a:effectLst>
            <a:outerShdw algn="bl" blurRad="379800" dir="5400000" dist="151200" kx="0" ky="0" rotWithShape="0" sx="100000" sy="100000">
              <a:srgbClr val="6A4FC8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0"/>
          <p:cNvSpPr/>
          <p:nvPr/>
        </p:nvSpPr>
        <p:spPr>
          <a:xfrm>
            <a:off x="863640" y="5257440"/>
            <a:ext cx="579060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pc="-9" strike="noStrike">
                <a:solidFill>
                  <a:srgbClr val="2B3541"/>
                </a:solidFill>
                <a:effectLst/>
                <a:uFillTx/>
                <a:latin typeface="Funnel Sans SemiBold"/>
                <a:ea typeface="Funnel Sans SemiBold"/>
              </a:rPr>
              <a:t>Secure &amp; Privacy-First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1"/>
          <p:cNvSpPr/>
          <p:nvPr/>
        </p:nvSpPr>
        <p:spPr>
          <a:xfrm>
            <a:off x="863640" y="5574240"/>
            <a:ext cx="5790600" cy="5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2B3541"/>
                </a:solidFill>
                <a:effectLst/>
                <a:uFillTx/>
                <a:latin typeface="Funnel Sans"/>
                <a:ea typeface="Funnel Sans"/>
              </a:rPr>
              <a:t>Server-isolated API keys, schema-validated LLM outputs, and user-controlled data retention.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Image 0" descr="preencoded.png"/>
          <p:cNvPicPr/>
          <p:nvPr/>
        </p:nvPicPr>
        <p:blipFill>
          <a:blip r:embed="rId1"/>
          <a:stretch/>
        </p:blipFill>
        <p:spPr>
          <a:xfrm>
            <a:off x="7607160" y="2321640"/>
            <a:ext cx="3936600" cy="221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LibreOffice/26.8.1.1$Linux_X86_64 LibreOffice_project/680$Build-1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2026-10-22T17:56:36Z</dcterms:created>
  <dc:creator/>
  <dc:description/>
  <dc:language>en-US</dc:language>
  <cp:lastModifiedBy/>
  <dcterms:modified xsi:type="dcterms:W3CDTF">2026-10-22T23:43:47Z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